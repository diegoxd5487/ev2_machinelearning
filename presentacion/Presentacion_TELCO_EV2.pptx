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V="1">
            <a:off x="938905" y="751271"/>
            <a:ext cx="304313" cy="142646"/>
          </a:xfrm>
          <a:prstGeom prst="line">
            <a:avLst/>
          </a:prstGeom>
          <a:ln w="3302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38905" y="893917"/>
            <a:ext cx="304313" cy="199705"/>
          </a:xfrm>
          <a:prstGeom prst="line">
            <a:avLst/>
          </a:prstGeom>
          <a:ln w="3302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43808" y="798819"/>
            <a:ext cx="190195" cy="190195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7630" y="675192"/>
            <a:ext cx="152156" cy="152156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7630" y="1027054"/>
            <a:ext cx="152156" cy="152156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2923" y="646663"/>
            <a:ext cx="1806854" cy="3994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88" b="1">
                <a:solidFill>
                  <a:srgbClr val="FFFFFF"/>
                </a:solidFill>
                <a:latin typeface="Aptos Display"/>
              </a:rPr>
              <a:t>TELCO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4996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D6CA"/>
                </a:solidFill>
                <a:latin typeface="Aptos"/>
              </a:rPr>
              <a:t>MACHINE LEARNING  |  EV2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029968"/>
            <a:ext cx="71323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 Display"/>
              </a:rPr>
              <a:t>Predicción del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 Display"/>
              </a:rPr>
              <a:t>abandono de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959352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B7CC"/>
                </a:solidFill>
                <a:latin typeface="Aptos"/>
              </a:rPr>
              <a:t>Modelos predictivos y segmentación de clientes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8" y="4727448"/>
            <a:ext cx="5715000" cy="0"/>
          </a:xfrm>
          <a:prstGeom prst="line">
            <a:avLst/>
          </a:prstGeom>
          <a:ln w="1524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8" y="4965192"/>
            <a:ext cx="66751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Alfredo Álvarez  ·  Diego Bustamante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321808"/>
            <a:ext cx="6858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AB7CC"/>
                </a:solidFill>
                <a:latin typeface="Aptos"/>
              </a:rPr>
              <a:t>Evaluación Parcial N.º 2  |  2026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0" y="1737360"/>
            <a:ext cx="3383280" cy="3383280"/>
          </a:xfrm>
          <a:prstGeom prst="ellipse">
            <a:avLst/>
          </a:prstGeom>
          <a:noFill/>
          <a:ln w="15240"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41080" y="2148840"/>
            <a:ext cx="2560320" cy="2560320"/>
          </a:xfrm>
          <a:prstGeom prst="ellipse">
            <a:avLst/>
          </a:prstGeom>
          <a:noFill/>
          <a:ln w="15240"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 flipV="1">
            <a:off x="8622792" y="2331720"/>
            <a:ext cx="1024128" cy="484632"/>
          </a:xfrm>
          <a:prstGeom prst="line">
            <a:avLst/>
          </a:prstGeom>
          <a:ln w="3175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46920" y="2331720"/>
            <a:ext cx="1234440" cy="1005840"/>
          </a:xfrm>
          <a:prstGeom prst="line">
            <a:avLst/>
          </a:prstGeom>
          <a:ln w="3175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22792" y="2816352"/>
            <a:ext cx="1097280" cy="1527048"/>
          </a:xfrm>
          <a:prstGeom prst="line">
            <a:avLst/>
          </a:prstGeom>
          <a:ln w="3175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720072" y="3337560"/>
            <a:ext cx="1161288" cy="1005840"/>
          </a:xfrm>
          <a:prstGeom prst="line">
            <a:avLst/>
          </a:prstGeom>
          <a:ln w="3175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49056" y="2651760"/>
            <a:ext cx="365760" cy="365760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64040" y="2148840"/>
            <a:ext cx="393192" cy="393192"/>
          </a:xfrm>
          <a:prstGeom prst="ellipse">
            <a:avLst/>
          </a:prstGeom>
          <a:solidFill>
            <a:srgbClr val="E89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698480" y="3154680"/>
            <a:ext cx="393192" cy="393192"/>
          </a:xfrm>
          <a:prstGeom prst="ellipse">
            <a:avLst/>
          </a:prstGeom>
          <a:solidFill>
            <a:srgbClr val="55D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555480" y="4160520"/>
            <a:ext cx="393192" cy="393192"/>
          </a:xfrm>
          <a:prstGeom prst="ellipse">
            <a:avLst/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13064" y="475488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AB7CC"/>
                </a:solidFill>
                <a:latin typeface="Aptos"/>
              </a:rPr>
              <a:t>DECISIONES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AB7CC"/>
                </a:solidFill>
                <a:latin typeface="Aptos"/>
              </a:rPr>
              <a:t>BASADAS EN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111C32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718A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01  |  CONTEXTO DEL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23A"/>
                </a:solidFill>
                <a:latin typeface="Aptos Display"/>
              </a:rPr>
              <a:t>Planteamiento del problema de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718A"/>
                </a:solidFill>
                <a:latin typeface="Aptos"/>
              </a:rPr>
              <a:t>El objetivo es detectar riesgos de abandono y apoyar decisiones de retención oportunas.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18A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2718A"/>
                </a:solidFill>
                <a:latin typeface="Aptos"/>
              </a:rPr>
              <a:t>02 / 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063240"/>
            <a:ext cx="67208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34015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PREGUNTA DEL PROYECTO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785615"/>
            <a:ext cx="608076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23A"/>
                </a:solidFill>
                <a:latin typeface="Aptos Display"/>
              </a:rPr>
              <a:t>¿Qué clientes presentan mayor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23A"/>
                </a:solidFill>
                <a:latin typeface="Aptos Display"/>
              </a:rPr>
              <a:t>probabilidad de abandonar?</a:t>
            </a:r>
          </a:p>
        </p:txBody>
      </p:sp>
      <p:sp>
        <p:nvSpPr>
          <p:cNvPr id="29" name="Oval 28"/>
          <p:cNvSpPr/>
          <p:nvPr/>
        </p:nvSpPr>
        <p:spPr>
          <a:xfrm>
            <a:off x="7909560" y="3163824"/>
            <a:ext cx="393192" cy="393192"/>
          </a:xfrm>
          <a:prstGeom prst="ellipse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3568" y="3255264"/>
            <a:ext cx="2834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7B75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3099815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23A"/>
                </a:solidFill>
                <a:latin typeface="Aptos"/>
              </a:rPr>
              <a:t>Comprender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3447288"/>
            <a:ext cx="3017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los patrones asociados al abandono</a:t>
            </a:r>
          </a:p>
        </p:txBody>
      </p:sp>
      <p:sp>
        <p:nvSpPr>
          <p:cNvPr id="33" name="Oval 32"/>
          <p:cNvSpPr/>
          <p:nvPr/>
        </p:nvSpPr>
        <p:spPr>
          <a:xfrm>
            <a:off x="7909560" y="4014215"/>
            <a:ext cx="393192" cy="393192"/>
          </a:xfrm>
          <a:prstGeom prst="ellipse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73568" y="4105655"/>
            <a:ext cx="2834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7B75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950207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23A"/>
                </a:solidFill>
                <a:latin typeface="Aptos"/>
              </a:rPr>
              <a:t>Predecir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297679"/>
            <a:ext cx="3017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el riesgo mediante clasificación</a:t>
            </a:r>
          </a:p>
        </p:txBody>
      </p:sp>
      <p:sp>
        <p:nvSpPr>
          <p:cNvPr id="37" name="Oval 36"/>
          <p:cNvSpPr/>
          <p:nvPr/>
        </p:nvSpPr>
        <p:spPr>
          <a:xfrm>
            <a:off x="7909560" y="4864608"/>
            <a:ext cx="393192" cy="393192"/>
          </a:xfrm>
          <a:prstGeom prst="ellipse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73568" y="4956048"/>
            <a:ext cx="2834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7B75"/>
                </a:solidFill>
                <a:latin typeface="Apto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480060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23A"/>
                </a:solidFill>
                <a:latin typeface="Aptos"/>
              </a:rPr>
              <a:t>Orientar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5148072"/>
            <a:ext cx="3017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acciones de retención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FFFFFF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AB7CC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CA"/>
                </a:solidFill>
                <a:latin typeface="Aptos"/>
              </a:rPr>
              <a:t>02  |  INDICADORES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Indicadores clave de desempeño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7CC"/>
                </a:solidFill>
                <a:latin typeface="Aptos"/>
              </a:rPr>
              <a:t>Medimos tanto la dimensión del problema como la capacidad del modelo para detectarlo.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B7CC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AB7CC"/>
                </a:solidFill>
                <a:latin typeface="Aptos"/>
              </a:rPr>
              <a:t>03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2980944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55D6CA"/>
                </a:solidFill>
                <a:latin typeface="Aptos"/>
              </a:rPr>
              <a:t>CHURN GENERAL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319272"/>
            <a:ext cx="5029200" cy="112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0" b="1">
                <a:solidFill>
                  <a:srgbClr val="FFFFFF"/>
                </a:solidFill>
                <a:latin typeface="Aptos Display"/>
              </a:rPr>
              <a:t>26,5%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448056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AB7CC"/>
                </a:solidFill>
                <a:latin typeface="Aptos"/>
              </a:rPr>
              <a:t>de los clientes abandonó el servicio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61888" y="3081528"/>
            <a:ext cx="0" cy="2084832"/>
          </a:xfrm>
          <a:prstGeom prst="line">
            <a:avLst/>
          </a:prstGeom>
          <a:ln w="1524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19672" y="3063240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55D6CA"/>
                </a:solidFill>
                <a:latin typeface="Aptos"/>
              </a:rPr>
              <a:t>CLIENTES DE 0 A 6 MESES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401568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89C57"/>
                </a:solidFill>
                <a:latin typeface="Aptos Display"/>
              </a:rPr>
              <a:t>52,9%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3063240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5D6CA"/>
                </a:solidFill>
                <a:latin typeface="Aptos"/>
              </a:rPr>
              <a:t>CONTRATO MES A 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401568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5D6CA"/>
                </a:solidFill>
                <a:latin typeface="Aptos Display"/>
              </a:rPr>
              <a:t>42,7%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4370832"/>
            <a:ext cx="4736592" cy="0"/>
          </a:xfrm>
          <a:prstGeom prst="line">
            <a:avLst/>
          </a:prstGeom>
          <a:ln w="1270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19672" y="470916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KPI de evaluación: 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5102352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7CC"/>
                </a:solidFill>
                <a:latin typeface="Aptos"/>
              </a:rPr>
              <a:t>Proporción de abandonos reales detectados.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111C32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718A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03  |  HALLAZGOS DEL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23A"/>
                </a:solidFill>
                <a:latin typeface="Aptos Display"/>
              </a:rPr>
              <a:t>Resultados del análisis exploratorio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718A"/>
                </a:solidFill>
                <a:latin typeface="Aptos"/>
              </a:rPr>
              <a:t>Tasa de abandono según la modalidad contractual.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18A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2718A"/>
                </a:solidFill>
                <a:latin typeface="Aptos"/>
              </a:rPr>
              <a:t>04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72384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23A"/>
                </a:solidFill>
                <a:latin typeface="Aptos"/>
              </a:rPr>
              <a:t>Mes a 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163824"/>
            <a:ext cx="5349240" cy="210312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880360" y="3163824"/>
            <a:ext cx="4568250" cy="210312"/>
          </a:xfrm>
          <a:prstGeom prst="roundRect">
            <a:avLst>
              <a:gd name="adj" fmla="val 12000"/>
            </a:avLst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305409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23A"/>
                </a:solidFill>
                <a:latin typeface="Aptos Display"/>
              </a:rPr>
              <a:t>42,7%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13632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23A"/>
                </a:solidFill>
                <a:latin typeface="Aptos"/>
              </a:rPr>
              <a:t>Un año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4005072"/>
            <a:ext cx="5349240" cy="210312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80360" y="4005072"/>
            <a:ext cx="1208928" cy="210312"/>
          </a:xfrm>
          <a:prstGeom prst="roundRect">
            <a:avLst>
              <a:gd name="adj" fmla="val 12000"/>
            </a:avLst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3895344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23A"/>
                </a:solidFill>
                <a:latin typeface="Aptos Display"/>
              </a:rPr>
              <a:t>11,3%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1828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223A"/>
                </a:solidFill>
                <a:latin typeface="Aptos"/>
              </a:rPr>
              <a:t>Dos años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4846320"/>
            <a:ext cx="5349240" cy="210312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880360" y="4846320"/>
            <a:ext cx="299557" cy="210312"/>
          </a:xfrm>
          <a:prstGeom prst="roundRect">
            <a:avLst>
              <a:gd name="adj" fmla="val 12000"/>
            </a:avLst>
          </a:prstGeom>
          <a:solidFill>
            <a:srgbClr val="E89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473659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23A"/>
                </a:solidFill>
                <a:latin typeface="Aptos Display"/>
              </a:rPr>
              <a:t>2,8%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30384" y="3063240"/>
            <a:ext cx="1481328" cy="2157984"/>
          </a:xfrm>
          <a:prstGeom prst="roundRect">
            <a:avLst>
              <a:gd name="adj" fmla="val 12000"/>
            </a:avLst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76688" y="3291840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365BCF"/>
                </a:solidFill>
                <a:latin typeface="Aptos"/>
              </a:rPr>
              <a:t>FIBRA ÓPTICA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1824" y="3867912"/>
            <a:ext cx="12344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7B75"/>
                </a:solidFill>
                <a:latin typeface="Aptos Display"/>
              </a:rPr>
              <a:t>41,9%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9256" y="4416552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2718A"/>
                </a:solidFill>
                <a:latin typeface="Aptos"/>
              </a:rPr>
              <a:t>abandono</a:t>
            </a:r>
            <a:endParaRPr sz="1100" b="0" dirty="0">
              <a:solidFill>
                <a:srgbClr val="62718A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2104" y="57607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Interpretación: existe una asociación con el abandono, pero no implica causalidad.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111C32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718A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04  |  PREPARACIÓN Y METODOLOGÍA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23A"/>
                </a:solidFill>
                <a:latin typeface="Aptos Display"/>
              </a:rPr>
              <a:t>Preparación de datos y metodología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718A"/>
                </a:solidFill>
                <a:latin typeface="Aptos"/>
              </a:rPr>
              <a:t>Fuente académica del caso TELCO: 7.043 registros y 21 variables.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18A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2718A"/>
                </a:solidFill>
                <a:latin typeface="Aptos"/>
              </a:rPr>
              <a:t>05 / 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880360"/>
            <a:ext cx="3529584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081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B8AD"/>
                </a:solidFill>
                <a:latin typeface="Apto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2" y="303580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23A"/>
                </a:solidFill>
                <a:latin typeface="Aptos"/>
              </a:rPr>
              <a:t>Calidad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575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11 valores vacíos de TotalCharges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imputados con cero (tenure = 0).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44568" y="2880360"/>
            <a:ext cx="3529584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081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B8AD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03580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23A"/>
                </a:solidFill>
                <a:latin typeface="Aptos"/>
              </a:rPr>
              <a:t>Selección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575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Se excluyó customerID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del conjunto para modelar.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03336" y="2880360"/>
            <a:ext cx="3529584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13648" y="3081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B8AD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7" y="303580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23A"/>
                </a:solidFill>
                <a:latin typeface="Aptos"/>
              </a:rPr>
              <a:t>Transformación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3575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Churn en 0/1 y variables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categóricas codificadas.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60857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PROCESO CRISP-DM</a:t>
            </a:r>
          </a:p>
        </p:txBody>
      </p:sp>
      <p:sp>
        <p:nvSpPr>
          <p:cNvPr id="39" name="Oval 38"/>
          <p:cNvSpPr/>
          <p:nvPr/>
        </p:nvSpPr>
        <p:spPr>
          <a:xfrm>
            <a:off x="704088" y="5074920"/>
            <a:ext cx="219456" cy="219456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941832" y="5184648"/>
            <a:ext cx="1627632" cy="0"/>
          </a:xfrm>
          <a:prstGeom prst="line">
            <a:avLst/>
          </a:prstGeom>
          <a:ln w="1270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4088" y="5477256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23A"/>
                </a:solidFill>
                <a:latin typeface="Aptos"/>
              </a:rPr>
              <a:t>Negocio</a:t>
            </a:r>
          </a:p>
        </p:txBody>
      </p:sp>
      <p:sp>
        <p:nvSpPr>
          <p:cNvPr id="42" name="Oval 41"/>
          <p:cNvSpPr/>
          <p:nvPr/>
        </p:nvSpPr>
        <p:spPr>
          <a:xfrm>
            <a:off x="2606040" y="5074920"/>
            <a:ext cx="219456" cy="219456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2843784" y="5184648"/>
            <a:ext cx="1627632" cy="0"/>
          </a:xfrm>
          <a:prstGeom prst="line">
            <a:avLst/>
          </a:prstGeom>
          <a:ln w="1270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606040" y="5477256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23A"/>
                </a:solidFill>
                <a:latin typeface="Aptos"/>
              </a:rPr>
              <a:t>Datos</a:t>
            </a:r>
          </a:p>
        </p:txBody>
      </p:sp>
      <p:sp>
        <p:nvSpPr>
          <p:cNvPr id="45" name="Oval 44"/>
          <p:cNvSpPr/>
          <p:nvPr/>
        </p:nvSpPr>
        <p:spPr>
          <a:xfrm>
            <a:off x="4507992" y="5074920"/>
            <a:ext cx="219456" cy="219456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4745736" y="5184648"/>
            <a:ext cx="1627632" cy="0"/>
          </a:xfrm>
          <a:prstGeom prst="line">
            <a:avLst/>
          </a:prstGeom>
          <a:ln w="1270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07992" y="5477256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23A"/>
                </a:solidFill>
                <a:latin typeface="Aptos"/>
              </a:rPr>
              <a:t>Preparación</a:t>
            </a:r>
          </a:p>
        </p:txBody>
      </p:sp>
      <p:sp>
        <p:nvSpPr>
          <p:cNvPr id="48" name="Oval 47"/>
          <p:cNvSpPr/>
          <p:nvPr/>
        </p:nvSpPr>
        <p:spPr>
          <a:xfrm>
            <a:off x="6409944" y="5074920"/>
            <a:ext cx="219456" cy="219456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6647688" y="5184648"/>
            <a:ext cx="1627632" cy="0"/>
          </a:xfrm>
          <a:prstGeom prst="line">
            <a:avLst/>
          </a:prstGeom>
          <a:ln w="12700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09944" y="5477256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23A"/>
                </a:solidFill>
                <a:latin typeface="Aptos"/>
              </a:rPr>
              <a:t>Modelado</a:t>
            </a:r>
          </a:p>
        </p:txBody>
      </p:sp>
      <p:sp>
        <p:nvSpPr>
          <p:cNvPr id="51" name="Oval 50"/>
          <p:cNvSpPr/>
          <p:nvPr/>
        </p:nvSpPr>
        <p:spPr>
          <a:xfrm>
            <a:off x="8311896" y="5074920"/>
            <a:ext cx="219456" cy="219456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8549640" y="5184648"/>
            <a:ext cx="1627632" cy="0"/>
          </a:xfrm>
          <a:prstGeom prst="line">
            <a:avLst/>
          </a:prstGeom>
          <a:ln w="1270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311896" y="5477256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223A"/>
                </a:solidFill>
                <a:latin typeface="Aptos"/>
              </a:rPr>
              <a:t>Evaluación</a:t>
            </a:r>
          </a:p>
        </p:txBody>
      </p:sp>
      <p:sp>
        <p:nvSpPr>
          <p:cNvPr id="54" name="Oval 53"/>
          <p:cNvSpPr/>
          <p:nvPr/>
        </p:nvSpPr>
        <p:spPr>
          <a:xfrm>
            <a:off x="10213848" y="5074920"/>
            <a:ext cx="219456" cy="219456"/>
          </a:xfrm>
          <a:prstGeom prst="ellipse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13848" y="5477256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18A"/>
                </a:solidFill>
                <a:latin typeface="Aptos"/>
              </a:rPr>
              <a:t>Despliegue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9253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18A"/>
                </a:solidFill>
                <a:latin typeface="Aptos"/>
              </a:rPr>
              <a:t>Etapas 1 a 5 realizadas. El despliegue se plantea como etapa posterior.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111C32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718A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05  |  APRENDIZAJE SUPERVISADO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23A"/>
                </a:solidFill>
                <a:latin typeface="Aptos Display"/>
              </a:rPr>
              <a:t>Modelos de clasificación supervisada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718A"/>
                </a:solidFill>
                <a:latin typeface="Aptos"/>
              </a:rPr>
              <a:t>Predicción binaria de abandono: permanecer (0) o abandonar (1).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18A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2718A"/>
                </a:solidFill>
                <a:latin typeface="Aptos"/>
              </a:rPr>
              <a:t>06 / 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2816352"/>
            <a:ext cx="5239512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54496" y="2816352"/>
            <a:ext cx="5239512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7512" y="2816352"/>
            <a:ext cx="5239512" cy="82296"/>
          </a:xfrm>
          <a:prstGeom prst="rect">
            <a:avLst/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54496" y="2816352"/>
            <a:ext cx="5239512" cy="82296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3145536"/>
            <a:ext cx="434340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23A"/>
                </a:solidFill>
                <a:latin typeface="Aptos Display"/>
              </a:rPr>
              <a:t>Regresión Logística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" y="3749039"/>
            <a:ext cx="4498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2718A"/>
                </a:solidFill>
                <a:latin typeface="Aptos"/>
              </a:rPr>
              <a:t>Modelo base e interpretable.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" y="428853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18A"/>
                </a:solidFill>
                <a:latin typeface="Aptos"/>
              </a:rPr>
              <a:t>Variables estandarizadas antes del entrenamiento.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517136" y="4803301"/>
            <a:ext cx="71745" cy="7034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588881" y="4790829"/>
            <a:ext cx="71745" cy="12472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660626" y="4769450"/>
            <a:ext cx="71745" cy="21379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732371" y="4734841"/>
            <a:ext cx="71745" cy="34609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804116" y="4683691"/>
            <a:ext cx="71746" cy="51150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75862" y="4617434"/>
            <a:ext cx="71745" cy="66257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947607" y="4544853"/>
            <a:ext cx="71745" cy="72581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019352" y="4478596"/>
            <a:ext cx="71745" cy="66257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091097" y="4427446"/>
            <a:ext cx="71746" cy="51150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162843" y="4392837"/>
            <a:ext cx="71745" cy="34609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234588" y="4371458"/>
            <a:ext cx="71745" cy="21379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306333" y="4358986"/>
            <a:ext cx="71745" cy="12472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378078" y="4351952"/>
            <a:ext cx="71746" cy="7034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449824" y="4348060"/>
            <a:ext cx="71745" cy="3892"/>
          </a:xfrm>
          <a:prstGeom prst="line">
            <a:avLst/>
          </a:prstGeom>
          <a:ln w="24130">
            <a:solidFill>
              <a:srgbClr val="365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0" y="3145536"/>
            <a:ext cx="406908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223A"/>
                </a:solidFill>
                <a:latin typeface="Aptos Display"/>
              </a:rPr>
              <a:t>Random Forest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2824" y="3749039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2718A"/>
                </a:solidFill>
                <a:latin typeface="Aptos"/>
              </a:rPr>
              <a:t>Modelo capaz de captar relaciones no lineales.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2824" y="4645152"/>
            <a:ext cx="4297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18A"/>
                </a:solidFill>
                <a:latin typeface="Aptos"/>
              </a:rPr>
              <a:t>Configuración: 300 árboles, profundidad máxima de 8.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669280"/>
            <a:ext cx="10799064" cy="420624"/>
          </a:xfrm>
          <a:prstGeom prst="roundRect">
            <a:avLst>
              <a:gd name="adj" fmla="val 12000"/>
            </a:avLst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3544" y="5760720"/>
            <a:ext cx="10241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7B75"/>
                </a:solidFill>
                <a:latin typeface="Aptos"/>
              </a:rPr>
              <a:t>Entrenamiento: 80%   ·   Prueba: 20%   ·   Partición estratificada   ·   Balance de clases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FFFFFF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AB7CC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CA"/>
                </a:solidFill>
                <a:latin typeface="Aptos"/>
              </a:rPr>
              <a:t>06  |  EVALUACIÓN DE MODELOS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Evaluación comparativa del desempeño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7CC"/>
                </a:solidFill>
                <a:latin typeface="Aptos"/>
              </a:rPr>
              <a:t>Se prioriza Recall para identificar la mayor cantidad posible de abandonos reales.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B7CC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AB7CC"/>
                </a:solidFill>
                <a:latin typeface="Aptos"/>
              </a:rPr>
              <a:t>07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2926079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2843784"/>
            <a:ext cx="4441679" cy="210312"/>
          </a:xfrm>
          <a:prstGeom prst="roundRect">
            <a:avLst>
              <a:gd name="adj" fmla="val 12000"/>
            </a:avLst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40280" y="3118103"/>
            <a:ext cx="4396471" cy="210312"/>
          </a:xfrm>
          <a:prstGeom prst="roundRect">
            <a:avLst>
              <a:gd name="adj" fmla="val 12000"/>
            </a:avLst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79" y="28346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AB7CC"/>
                </a:solidFill>
                <a:latin typeface="Aptos"/>
              </a:rPr>
              <a:t>78,6%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118103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5D6CA"/>
                </a:solidFill>
                <a:latin typeface="Aptos"/>
              </a:rPr>
              <a:t>77,8%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3767328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F1-score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3685032"/>
            <a:ext cx="3481011" cy="210312"/>
          </a:xfrm>
          <a:prstGeom prst="roundRect">
            <a:avLst>
              <a:gd name="adj" fmla="val 12000"/>
            </a:avLst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240280" y="3959352"/>
            <a:ext cx="3548822" cy="210312"/>
          </a:xfrm>
          <a:prstGeom prst="roundRect">
            <a:avLst>
              <a:gd name="adj" fmla="val 12000"/>
            </a:avLst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79" y="36758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AB7CC"/>
                </a:solidFill>
                <a:latin typeface="Aptos"/>
              </a:rPr>
              <a:t>61,6%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9593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5D6CA"/>
                </a:solidFill>
                <a:latin typeface="Aptos"/>
              </a:rPr>
              <a:t>62,8%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4608576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ROC AUC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40280" y="4526280"/>
            <a:ext cx="4752484" cy="210312"/>
          </a:xfrm>
          <a:prstGeom prst="roundRect">
            <a:avLst>
              <a:gd name="adj" fmla="val 12000"/>
            </a:avLst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240280" y="4800600"/>
            <a:ext cx="4769437" cy="210312"/>
          </a:xfrm>
          <a:prstGeom prst="roundRect">
            <a:avLst>
              <a:gd name="adj" fmla="val 12000"/>
            </a:avLst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79" y="45171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AB7CC"/>
                </a:solidFill>
                <a:latin typeface="Aptos"/>
              </a:rPr>
              <a:t>84,1%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8006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5D6CA"/>
                </a:solidFill>
                <a:latin typeface="Aptos"/>
              </a:rPr>
              <a:t>84,4%</a:t>
            </a:r>
          </a:p>
        </p:txBody>
      </p:sp>
      <p:sp>
        <p:nvSpPr>
          <p:cNvPr id="41" name="Oval 40"/>
          <p:cNvSpPr/>
          <p:nvPr/>
        </p:nvSpPr>
        <p:spPr>
          <a:xfrm>
            <a:off x="2267712" y="5632704"/>
            <a:ext cx="109728" cy="109728"/>
          </a:xfrm>
          <a:prstGeom prst="ellipse">
            <a:avLst/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78024" y="5596128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B7CC"/>
                </a:solidFill>
                <a:latin typeface="Aptos"/>
              </a:rPr>
              <a:t>Regresión Logística</a:t>
            </a:r>
          </a:p>
        </p:txBody>
      </p:sp>
      <p:sp>
        <p:nvSpPr>
          <p:cNvPr id="43" name="Oval 42"/>
          <p:cNvSpPr/>
          <p:nvPr/>
        </p:nvSpPr>
        <p:spPr>
          <a:xfrm>
            <a:off x="4745736" y="5632704"/>
            <a:ext cx="109728" cy="109728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56048" y="5596128"/>
            <a:ext cx="193852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B7CC"/>
                </a:solidFill>
                <a:latin typeface="Aptos"/>
              </a:rPr>
              <a:t>Random Forest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43416" y="2807208"/>
            <a:ext cx="0" cy="2478024"/>
          </a:xfrm>
          <a:prstGeom prst="line">
            <a:avLst/>
          </a:prstGeom>
          <a:ln w="1270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336024" y="30449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CA"/>
                </a:solidFill>
                <a:latin typeface="Aptos"/>
              </a:rPr>
              <a:t>MODELO SELECCIONADO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17736" y="3557016"/>
            <a:ext cx="1956816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 Display"/>
              </a:rPr>
              <a:t>Random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 Display"/>
              </a:rPr>
              <a:t>Forest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7823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55D6CA"/>
                </a:solidFill>
                <a:latin typeface="Aptos"/>
              </a:rPr>
              <a:t>Recall: 77,8%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111C32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718A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07  |  APRENDIZAJE NO SUPERVISADO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23A"/>
                </a:solidFill>
                <a:latin typeface="Aptos Display"/>
              </a:rPr>
              <a:t>Segmentación de clientes mediante K-Means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718A"/>
                </a:solidFill>
                <a:latin typeface="Aptos"/>
              </a:rPr>
              <a:t>Segmentación basada en tenure, MonthlyCharges y TotalCharges, sin utilizar Churn como entrada.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18A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2718A"/>
                </a:solidFill>
                <a:latin typeface="Aptos"/>
              </a:rPr>
              <a:t>08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871216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718A"/>
                </a:solidFill>
                <a:latin typeface="Aptos"/>
              </a:rPr>
              <a:t>C0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7" y="2871216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23A"/>
                </a:solidFill>
                <a:latin typeface="Aptos"/>
              </a:rPr>
              <a:t>Recientes · cargos bajos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2704" y="2926080"/>
            <a:ext cx="3904487" cy="164592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632704" y="2926080"/>
            <a:ext cx="1928817" cy="164592"/>
          </a:xfrm>
          <a:prstGeom prst="roundRect">
            <a:avLst>
              <a:gd name="adj" fmla="val 12000"/>
            </a:avLst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29800" y="2834640"/>
            <a:ext cx="130759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23A"/>
                </a:solidFill>
                <a:latin typeface="Aptos Display"/>
              </a:rPr>
              <a:t>24,7%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511296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718A"/>
                </a:solidFill>
                <a:latin typeface="Aptos"/>
              </a:rPr>
              <a:t>C1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7" y="3511296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23A"/>
                </a:solidFill>
                <a:latin typeface="Aptos"/>
              </a:rPr>
              <a:t>Antiguos · cargos altos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32704" y="3566160"/>
            <a:ext cx="3904487" cy="164592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632704" y="3566160"/>
            <a:ext cx="1202582" cy="164592"/>
          </a:xfrm>
          <a:prstGeom prst="roundRect">
            <a:avLst>
              <a:gd name="adj" fmla="val 12000"/>
            </a:avLst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29800" y="3474720"/>
            <a:ext cx="130759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23A"/>
                </a:solidFill>
                <a:latin typeface="Aptos Display"/>
              </a:rPr>
              <a:t>15,4%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069080"/>
            <a:ext cx="10835640" cy="585216"/>
          </a:xfrm>
          <a:prstGeom prst="roundRect">
            <a:avLst>
              <a:gd name="adj" fmla="val 12000"/>
            </a:avLst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4151376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7B75"/>
                </a:solidFill>
                <a:latin typeface="Aptos"/>
              </a:rPr>
              <a:t>C2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7" y="4151376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23A"/>
                </a:solidFill>
                <a:latin typeface="Aptos"/>
              </a:rPr>
              <a:t>Recientes · cargos altos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32704" y="4206240"/>
            <a:ext cx="3904487" cy="164592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632704" y="4206240"/>
            <a:ext cx="3763926" cy="164592"/>
          </a:xfrm>
          <a:prstGeom prst="roundRect">
            <a:avLst>
              <a:gd name="adj" fmla="val 12000"/>
            </a:avLst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29800" y="4114800"/>
            <a:ext cx="130759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7B75"/>
                </a:solidFill>
                <a:latin typeface="Aptos Display"/>
              </a:rPr>
              <a:t>48,2%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791456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718A"/>
                </a:solidFill>
                <a:latin typeface="Aptos"/>
              </a:rPr>
              <a:t>C3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92807" y="4791456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23A"/>
                </a:solidFill>
                <a:latin typeface="Aptos"/>
              </a:rPr>
              <a:t>Antiguos · cargos bajos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32704" y="4846320"/>
            <a:ext cx="3904487" cy="164592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632704" y="4846320"/>
            <a:ext cx="390448" cy="164592"/>
          </a:xfrm>
          <a:prstGeom prst="roundRect">
            <a:avLst>
              <a:gd name="adj" fmla="val 12000"/>
            </a:avLst>
          </a:prstGeom>
          <a:solidFill>
            <a:srgbClr val="36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29800" y="4754880"/>
            <a:ext cx="130759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23A"/>
                </a:solidFill>
                <a:latin typeface="Aptos Display"/>
              </a:rPr>
              <a:t>5,0%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669280"/>
            <a:ext cx="10762488" cy="411480"/>
          </a:xfrm>
          <a:prstGeom prst="roundRect">
            <a:avLst>
              <a:gd name="adj" fmla="val 12000"/>
            </a:avLst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760720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65BCF"/>
                </a:solidFill>
                <a:latin typeface="Aptos"/>
              </a:rPr>
              <a:t>Aplicación: priorizar la retención temprana de clientes con poca antigüedad y cargos elevados.</a:t>
            </a:r>
          </a:p>
        </p:txBody>
      </p:sp>
      <p:sp>
        <p:nvSpPr>
          <p:cNvPr id="49" name="TextBox 47">
            <a:extLst>
              <a:ext uri="{FF2B5EF4-FFF2-40B4-BE49-F238E27FC236}">
                <a16:creationId xmlns:a16="http://schemas.microsoft.com/office/drawing/2014/main" id="{CF6959DF-C841-6F9D-AD80-0273881C9107}"/>
              </a:ext>
            </a:extLst>
          </p:cNvPr>
          <p:cNvSpPr txBox="1"/>
          <p:nvPr/>
        </p:nvSpPr>
        <p:spPr>
          <a:xfrm>
            <a:off x="9774936" y="2313432"/>
            <a:ext cx="10149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b="1" dirty="0" err="1">
                <a:solidFill>
                  <a:schemeClr val="accent3">
                    <a:lumMod val="75000"/>
                  </a:schemeClr>
                </a:solidFill>
                <a:latin typeface="Aptos"/>
              </a:rPr>
              <a:t>Churn</a:t>
            </a:r>
            <a:r>
              <a:rPr b="1" dirty="0">
                <a:solidFill>
                  <a:schemeClr val="accent3">
                    <a:lumMod val="75000"/>
                  </a:schemeClr>
                </a:solidFill>
                <a:latin typeface="Aptos"/>
              </a:rP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111C32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2718A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DE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5BCF"/>
                </a:solidFill>
                <a:latin typeface="Aptos"/>
              </a:rPr>
              <a:t>08  |  ANÁLISIS ÉTICO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23A"/>
                </a:solidFill>
                <a:latin typeface="Aptos Display"/>
              </a:rPr>
              <a:t>Consideraciones éticas y privacidad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718A"/>
                </a:solidFill>
                <a:latin typeface="Aptos"/>
              </a:rPr>
              <a:t>El desempeño técnico debe complementarse con privacidad, equidad y supervisión.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18A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2718A"/>
                </a:solidFill>
                <a:latin typeface="Aptos"/>
              </a:rPr>
              <a:t>09 / 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" y="2880360"/>
            <a:ext cx="3493008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8408" y="3136392"/>
            <a:ext cx="457200" cy="457200"/>
          </a:xfrm>
          <a:prstGeom prst="ellipse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0704" y="3282696"/>
            <a:ext cx="29260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7B75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3858768"/>
            <a:ext cx="28712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23A"/>
                </a:solidFill>
                <a:latin typeface="Aptos Display"/>
              </a:rPr>
              <a:t>Privacidad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507992"/>
            <a:ext cx="28895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18A"/>
                </a:solidFill>
                <a:latin typeface="Aptos"/>
              </a:rPr>
              <a:t>Exclusión de identificadores y uso de datos pertinentes.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2880360"/>
            <a:ext cx="3493008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46320" y="3136392"/>
            <a:ext cx="457200" cy="457200"/>
          </a:xfrm>
          <a:prstGeom prst="ellipse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28616" y="3282696"/>
            <a:ext cx="29260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65BCF"/>
                </a:solidFill>
                <a:latin typeface="Apto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8" y="3858768"/>
            <a:ext cx="28712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23A"/>
                </a:solidFill>
                <a:latin typeface="Aptos Display"/>
              </a:rPr>
              <a:t>Equidad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4507992"/>
            <a:ext cx="28895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18A"/>
                </a:solidFill>
                <a:latin typeface="Aptos"/>
              </a:rPr>
              <a:t>Revisión de Recall por género y SeniorCitizen.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2880360"/>
            <a:ext cx="3493008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714232" y="3136392"/>
            <a:ext cx="457200" cy="457200"/>
          </a:xfrm>
          <a:prstGeom prst="ellipse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96528" y="3282696"/>
            <a:ext cx="29260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9C57"/>
                </a:solidFill>
                <a:latin typeface="Apto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858768"/>
            <a:ext cx="28712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23A"/>
                </a:solidFill>
                <a:latin typeface="Aptos Display"/>
              </a:rPr>
              <a:t>Supervisión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5944" y="4507992"/>
            <a:ext cx="28895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18A"/>
                </a:solidFill>
                <a:latin typeface="Aptos"/>
              </a:rPr>
              <a:t>Uso de predicciones como apoyo, no como decisión automática.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779008"/>
            <a:ext cx="10680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18A"/>
                </a:solidFill>
                <a:latin typeface="Aptos"/>
              </a:rPr>
              <a:t>Marcos de referencia: Ley 19.628, Ley 21.719 y principios internacionales de protección de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29051" y="418429"/>
            <a:ext cx="201899" cy="94640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29051" y="513069"/>
            <a:ext cx="201899" cy="132497"/>
          </a:xfrm>
          <a:prstGeom prst="line">
            <a:avLst/>
          </a:prstGeom>
          <a:ln w="21907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5957" y="449976"/>
            <a:ext cx="126187" cy="126187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4166" y="367954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4166" y="601400"/>
            <a:ext cx="100949" cy="100949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3447" y="349026"/>
            <a:ext cx="1198778" cy="264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>
                <a:solidFill>
                  <a:srgbClr val="FFFFFF"/>
                </a:solidFill>
                <a:latin typeface="Aptos Display"/>
              </a:rPr>
              <a:t>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97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AB7CC"/>
                </a:solidFill>
                <a:latin typeface="Aptos"/>
              </a:rPr>
              <a:t>MLY1101    |    PRESENTACIÓN TÉCNICA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950976"/>
            <a:ext cx="10908792" cy="0"/>
          </a:xfrm>
          <a:prstGeom prst="line">
            <a:avLst/>
          </a:prstGeom>
          <a:ln w="1016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17957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CA"/>
                </a:solidFill>
                <a:latin typeface="Aptos"/>
              </a:rPr>
              <a:t>09  |  RECOMENDACIONES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9344"/>
            <a:ext cx="108356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Recomendaciones para la retención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B7CC"/>
                </a:solidFill>
                <a:latin typeface="Aptos"/>
              </a:rPr>
              <a:t>Los resultados permiten orientar intervenciones focalizadas y evaluar su impacto.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55064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85032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9984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4968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74936" y="6574536"/>
            <a:ext cx="859536" cy="32004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0" y="6574536"/>
            <a:ext cx="859536" cy="32004"/>
          </a:xfrm>
          <a:prstGeom prst="rect">
            <a:avLst/>
          </a:prstGeom>
          <a:solidFill>
            <a:srgbClr val="1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318504"/>
            <a:ext cx="4480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AB7CC"/>
                </a:solidFill>
                <a:latin typeface="Aptos"/>
              </a:rPr>
              <a:t>TELCO  /  ANÁLISIS DE ABANDONO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AB7CC"/>
                </a:solidFill>
                <a:latin typeface="Aptos"/>
              </a:rPr>
              <a:t>10 / 11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" y="2944368"/>
            <a:ext cx="466344" cy="466344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07238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C32"/>
                </a:solidFill>
                <a:latin typeface="Apto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93522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Primeros meses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990088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AB7CC"/>
                </a:solidFill>
                <a:latin typeface="Aptos"/>
              </a:rPr>
              <a:t>Reforzar acompañamiento y experiencia inicial.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54480" y="3639312"/>
            <a:ext cx="9601200" cy="0"/>
          </a:xfrm>
          <a:prstGeom prst="line">
            <a:avLst/>
          </a:prstGeom>
          <a:ln w="1016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41248" y="3831336"/>
            <a:ext cx="466344" cy="466344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3959352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C32"/>
                </a:solidFill>
                <a:latin typeface="Apto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82219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Contratos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877056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AB7CC"/>
                </a:solidFill>
                <a:latin typeface="Aptos"/>
              </a:rPr>
              <a:t>Ofrecer beneficios para mayor permanencia.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54480" y="4526280"/>
            <a:ext cx="9601200" cy="0"/>
          </a:xfrm>
          <a:prstGeom prst="line">
            <a:avLst/>
          </a:prstGeom>
          <a:ln w="1016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41248" y="4718304"/>
            <a:ext cx="466344" cy="466344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4846320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C32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70916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Alertas de riesgo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764024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AB7CC"/>
                </a:solidFill>
                <a:latin typeface="Aptos"/>
              </a:rPr>
              <a:t>Priorizar seguimiento de clientes vulnerables a la fuga.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7240" y="5907024"/>
            <a:ext cx="10634472" cy="0"/>
          </a:xfrm>
          <a:prstGeom prst="line">
            <a:avLst/>
          </a:prstGeom>
          <a:ln w="1016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6053328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5D6CA"/>
                </a:solidFill>
                <a:latin typeface="Aptos"/>
              </a:rPr>
              <a:t>TELCO  |  Analizar para anticipar. Anticipar para actuar.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V="1">
            <a:off x="951158" y="715426"/>
            <a:ext cx="310165" cy="145390"/>
          </a:xfrm>
          <a:prstGeom prst="line">
            <a:avLst/>
          </a:prstGeom>
          <a:ln w="33655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51158" y="860816"/>
            <a:ext cx="310165" cy="203545"/>
          </a:xfrm>
          <a:prstGeom prst="line">
            <a:avLst/>
          </a:prstGeom>
          <a:ln w="33655">
            <a:solidFill>
              <a:srgbClr val="12B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54232" y="763889"/>
            <a:ext cx="193852" cy="193852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74089" y="637885"/>
            <a:ext cx="155082" cy="155082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4089" y="996513"/>
            <a:ext cx="155082" cy="155082"/>
          </a:xfrm>
          <a:prstGeom prst="ellipse">
            <a:avLst/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868" y="608807"/>
            <a:ext cx="1841601" cy="407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32" b="1">
                <a:solidFill>
                  <a:srgbClr val="FFFFFF"/>
                </a:solidFill>
                <a:latin typeface="Aptos Display"/>
              </a:rPr>
              <a:t>TELCO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408176"/>
            <a:ext cx="10634472" cy="0"/>
          </a:xfrm>
          <a:prstGeom prst="line">
            <a:avLst/>
          </a:prstGeom>
          <a:ln w="1270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8" y="1975104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CA"/>
                </a:solidFill>
                <a:latin typeface="Aptos"/>
              </a:rPr>
              <a:t>CIERRE DE LA PRESENTACIÓN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80"/>
            <a:ext cx="1069848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ptos Display"/>
              </a:rPr>
              <a:t>Muchas gracias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5192" y="3675887"/>
            <a:ext cx="2267712" cy="64008"/>
          </a:xfrm>
          <a:prstGeom prst="roundRect">
            <a:avLst>
              <a:gd name="adj" fmla="val 12000"/>
            </a:avLst>
          </a:prstGeom>
          <a:solidFill>
            <a:srgbClr val="12B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3120" y="4105656"/>
            <a:ext cx="798271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AB7CC"/>
                </a:solidFill>
                <a:latin typeface="Aptos"/>
              </a:rPr>
              <a:t>Agradecemos su atención.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608576"/>
            <a:ext cx="83484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Quedamos atentos a sus preguntas.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" y="5404104"/>
            <a:ext cx="5148072" cy="0"/>
          </a:xfrm>
          <a:prstGeom prst="line">
            <a:avLst/>
          </a:prstGeom>
          <a:ln w="12700">
            <a:solidFill>
              <a:srgbClr val="1D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76856" y="5669280"/>
            <a:ext cx="7635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5D6CA"/>
                </a:solidFill>
                <a:latin typeface="Aptos"/>
              </a:rPr>
              <a:t>Alfredo Álvarez   ·   Diego Bustamante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6163056"/>
            <a:ext cx="65653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B7CC"/>
                </a:solidFill>
                <a:latin typeface="Aptos"/>
              </a:rPr>
              <a:t>TELCO   |   MACHINE LEARNING   |   MLY1101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738</Words>
  <Application>Microsoft Office PowerPoint</Application>
  <PresentationFormat>Panorámica</PresentationFormat>
  <Paragraphs>186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| Predicción del abandono de clientes | EV2</dc:title>
  <dc:subject>Presentación técnica de Machine Learning MLY1101</dc:subject>
  <dc:creator>Alfredo Álvarez y Diego Bustamante</dc:creator>
  <cp:keywords>TELCO, churn, regresión logística, random forest, k-means</cp:keywords>
  <dc:description>generated using python-pptx</dc:description>
  <cp:lastModifiedBy>Alfredo Alvarez</cp:lastModifiedBy>
  <cp:revision>2</cp:revision>
  <dcterms:created xsi:type="dcterms:W3CDTF">2013-01-27T09:14:16Z</dcterms:created>
  <dcterms:modified xsi:type="dcterms:W3CDTF">2026-10-26T16:08:27Z</dcterms:modified>
  <cp:category/>
</cp:coreProperties>
</file>